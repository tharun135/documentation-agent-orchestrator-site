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40" r:id="rId2"/>
    <p:sldId id="1252" r:id="rId3"/>
    <p:sldId id="1253" r:id="rId4"/>
    <p:sldId id="1254" r:id="rId5"/>
    <p:sldId id="1262" r:id="rId6"/>
    <p:sldId id="1255" r:id="rId7"/>
    <p:sldId id="1256" r:id="rId8"/>
    <p:sldId id="1260" r:id="rId9"/>
    <p:sldId id="1263" r:id="rId10"/>
    <p:sldId id="1261" r:id="rId11"/>
  </p:sldIdLst>
  <p:sldSz cx="12192000" cy="6858000"/>
  <p:notesSz cx="6858000" cy="9144000"/>
  <p:defaultTextStyle>
    <a:defPPr>
      <a:defRPr lang="en-US"/>
    </a:defPPr>
    <a:lvl1pPr>
      <a:spcBef>
        <a:spcPts val="0"/>
      </a:spcBef>
      <a:buClr>
        <a:schemeClr val="accent1"/>
      </a:buClr>
      <a:defRPr sz="1800"/>
    </a:lvl1pPr>
    <a:lvl2pPr marL="1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2pPr>
    <a:lvl3pPr marL="3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3pPr>
    <a:lvl4pPr marL="5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4pPr>
    <a:lvl5pPr marL="72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5pPr>
    <a:lvl6pPr marL="90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6pPr>
    <a:lvl7pPr marL="10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7pPr>
    <a:lvl8pPr marL="12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8pPr>
    <a:lvl9pPr marL="14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9pPr>
  </p:defaultTextStyle>
  <p:extLst>
    <p:ext uri="{521415D9-36F7-43E2-AB2F-B90AF26B5E84}">
      <p14:sectionLst xmlns:p14="http://schemas.microsoft.com/office/powerpoint/2010/main">
        <p14:section name="Title slides" id="{DB952CA2-F37E-4B72-9E03-5C01D6602214}">
          <p14:sldIdLst>
            <p14:sldId id="340"/>
            <p14:sldId id="1252"/>
            <p14:sldId id="1253"/>
            <p14:sldId id="1254"/>
            <p14:sldId id="1262"/>
            <p14:sldId id="1255"/>
            <p14:sldId id="1256"/>
            <p14:sldId id="1260"/>
            <p14:sldId id="1263"/>
            <p14:sldId id="126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7386" autoAdjust="0"/>
  </p:normalViewPr>
  <p:slideViewPr>
    <p:cSldViewPr snapToGrid="0" showGuides="1">
      <p:cViewPr varScale="1">
        <p:scale>
          <a:sx n="119" d="100"/>
          <a:sy n="119" d="100"/>
        </p:scale>
        <p:origin x="108" y="18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310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93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>
                <a:solidFill>
                  <a:schemeClr val="tx2"/>
                </a:solidFill>
                <a:latin typeface="+mn-lt"/>
              </a:rPr>
              <a:t>2/12/2026</a:t>
            </a:fld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  <a:latin typeface="+mn-lt"/>
              </a:rPr>
              <a:t>Hand out</a:t>
            </a:r>
            <a:r>
              <a:rPr lang="en-US" sz="1050" dirty="0">
                <a:solidFill>
                  <a:schemeClr val="accent2"/>
                </a:solidFill>
                <a:latin typeface="+mn-lt"/>
              </a:rPr>
              <a:t> </a:t>
            </a:r>
            <a:fld id="{C92BABF8-1341-4DCB-864A-D83C08BEEAE4}" type="slidenum">
              <a:rPr lang="en-US" sz="1050" smtClean="0">
                <a:solidFill>
                  <a:schemeClr val="tx2"/>
                </a:solidFill>
                <a:latin typeface="+mn-lt"/>
              </a:rPr>
              <a:t>‹#›</a:t>
            </a:fld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76FBC1AF-E4C9-412F-9B6D-66CD520F95DB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670C6E6A-0191-4020-A084-BB23C7AE6B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092D1760-10AA-43FB-AC0B-074FF50071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BC293230-94BC-41FA-A2D9-E9259B125F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24627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5136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920874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91605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15397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361385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662922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792413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874017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1602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713285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502166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22370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093362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477977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322078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496026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223687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666566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804166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35824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67889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08786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280640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76341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191606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945772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0F638833-9358-4A10-8860-60EC0C65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 Stage">
            <a:extLst>
              <a:ext uri="{FF2B5EF4-FFF2-40B4-BE49-F238E27FC236}">
                <a16:creationId xmlns:a16="http://schemas.microsoft.com/office/drawing/2014/main" id="{A71FD435-3CF0-4700-A204-51B8FECDB0E5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BDD73C6A-6099-483E-9C34-F604024F2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54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A236A90B-8F03-45C0-87DD-5479E8376B64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E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CFA8B97-DE99-4B15-8C8C-3748FA022B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043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40C63E25-48A4-43B2-BEE6-D2FE79309C83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gradFill>
            <a:gsLst>
              <a:gs pos="40000">
                <a:srgbClr val="00FFB9"/>
              </a:gs>
              <a:gs pos="100000">
                <a:srgbClr val="00E6D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EN" dirty="0"/>
          </a:p>
        </p:txBody>
      </p:sp>
      <p:sp>
        <p:nvSpPr>
          <p:cNvPr id="9" name="Color Stage">
            <a:extLst>
              <a:ext uri="{FF2B5EF4-FFF2-40B4-BE49-F238E27FC236}">
                <a16:creationId xmlns:a16="http://schemas.microsoft.com/office/drawing/2014/main" id="{0C524D66-9942-450A-A90F-E7A0CC42EC73}"/>
              </a:ext>
            </a:extLst>
          </p:cNvPr>
          <p:cNvSpPr/>
          <p:nvPr userDrawn="1"/>
        </p:nvSpPr>
        <p:spPr>
          <a:xfrm>
            <a:off x="0" y="1414463"/>
            <a:ext cx="12192000" cy="4752337"/>
          </a:xfrm>
          <a:prstGeom prst="rect">
            <a:avLst/>
          </a:prstGeom>
          <a:gradFill flip="none" rotWithShape="1">
            <a:gsLst>
              <a:gs pos="0">
                <a:srgbClr val="00FFB9"/>
              </a:gs>
              <a:gs pos="100000">
                <a:schemeClr val="bg2">
                  <a:alpha val="0"/>
                </a:schemeClr>
              </a:gs>
              <a:gs pos="40000">
                <a:srgbClr val="00FFB9">
                  <a:alpha val="50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83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363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8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007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dark (Text 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981D8F55-811B-AEDF-5E04-DCFE25B08B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534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smal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0D24217-CDAA-9414-DB12-8FECD39730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621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70697368-7933-D4EC-C605-5BEF35329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658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F8BBD80-F603-890B-5CCC-27FC59B160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79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53CF7CF-3A43-5B1E-4240-BD93149833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623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6876CD70-E828-5653-E034-0E836EE5EA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956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 (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2E6EBD77-9439-0F2D-3512-7EAC1BD87F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096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DBDDA68C-D369-4260-610E-00284B3EA6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2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C1B6"/>
          </a:solidFill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 anchorCtr="0"/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9pPr>
          </a:lstStyle>
          <a:p>
            <a:pPr lvl="0">
              <a:buClr>
                <a:schemeClr val="accent1"/>
              </a:buClr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219FA372-8978-3FA6-7DE8-9278A9E578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26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A8C0A65-FABA-4781-9F01-D545584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-540000"/>
            <a:ext cx="9863138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2886B6C-3288-1F00-A9B6-D56E01FC2F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24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76" r:id="rId4"/>
    <p:sldLayoutId id="2147483777" r:id="rId5"/>
    <p:sldLayoutId id="2147483778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73" r:id="rId13"/>
    <p:sldLayoutId id="2147483774" r:id="rId14"/>
    <p:sldLayoutId id="2147483775" r:id="rId15"/>
    <p:sldLayoutId id="2147483781" r:id="rId16"/>
    <p:sldLayoutId id="2147483782" r:id="rId17"/>
    <p:sldLayoutId id="2147483783" r:id="rId18"/>
    <p:sldLayoutId id="2147483790" r:id="rId19"/>
    <p:sldLayoutId id="2147483791" r:id="rId20"/>
    <p:sldLayoutId id="2147483792" r:id="rId21"/>
    <p:sldLayoutId id="2147483770" r:id="rId22"/>
    <p:sldLayoutId id="2147483771" r:id="rId23"/>
    <p:sldLayoutId id="2147483772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24" r:id="rId31"/>
    <p:sldLayoutId id="2147483725" r:id="rId32"/>
    <p:sldLayoutId id="2147483726" r:id="rId33"/>
    <p:sldLayoutId id="2147483730" r:id="rId34"/>
    <p:sldLayoutId id="2147483731" r:id="rId35"/>
    <p:sldLayoutId id="2147483732" r:id="rId36"/>
    <p:sldLayoutId id="2147483727" r:id="rId37"/>
    <p:sldLayoutId id="2147483728" r:id="rId38"/>
    <p:sldLayoutId id="2147483729" r:id="rId39"/>
    <p:sldLayoutId id="2147483736" r:id="rId40"/>
    <p:sldLayoutId id="2147483737" r:id="rId41"/>
    <p:sldLayoutId id="2147483738" r:id="rId42"/>
    <p:sldLayoutId id="2147483753" r:id="rId43"/>
    <p:sldLayoutId id="2147483754" r:id="rId44"/>
    <p:sldLayoutId id="2147483755" r:id="rId45"/>
    <p:sldLayoutId id="2147483739" r:id="rId46"/>
    <p:sldLayoutId id="2147483740" r:id="rId47"/>
    <p:sldLayoutId id="2147483741" r:id="rId48"/>
    <p:sldLayoutId id="2147483756" r:id="rId49"/>
    <p:sldLayoutId id="2147483744" r:id="rId50"/>
    <p:sldLayoutId id="2147483691" r:id="rId51"/>
    <p:sldLayoutId id="2147483655" r:id="rId52"/>
    <p:sldLayoutId id="2147483692" r:id="rId53"/>
    <p:sldLayoutId id="2147483780" r:id="rId54"/>
    <p:sldLayoutId id="2147483779" r:id="rId55"/>
    <p:sldLayoutId id="2147483677" r:id="rId56"/>
    <p:sldLayoutId id="2147483799" r:id="rId57"/>
    <p:sldLayoutId id="2147483709" r:id="rId58"/>
    <p:sldLayoutId id="2147483800" r:id="rId59"/>
    <p:sldLayoutId id="2147483650" r:id="rId60"/>
    <p:sldLayoutId id="2147483801" r:id="rId61"/>
    <p:sldLayoutId id="2147483665" r:id="rId62"/>
    <p:sldLayoutId id="2147483802" r:id="rId63"/>
    <p:sldLayoutId id="2147483666" r:id="rId64"/>
    <p:sldLayoutId id="2147483803" r:id="rId65"/>
    <p:sldLayoutId id="2147483697" r:id="rId66"/>
    <p:sldLayoutId id="2147483804" r:id="rId67"/>
    <p:sldLayoutId id="2147483698" r:id="rId68"/>
    <p:sldLayoutId id="2147483805" r:id="rId69"/>
    <p:sldLayoutId id="2147483652" r:id="rId70"/>
    <p:sldLayoutId id="2147483806" r:id="rId71"/>
    <p:sldLayoutId id="2147483694" r:id="rId72"/>
    <p:sldLayoutId id="2147483687" r:id="rId73"/>
    <p:sldLayoutId id="2147483808" r:id="rId74"/>
    <p:sldLayoutId id="2147483690" r:id="rId75"/>
    <p:sldLayoutId id="2147483681" r:id="rId76"/>
    <p:sldLayoutId id="2147483682" r:id="rId77"/>
    <p:sldLayoutId id="2147483711" r:id="rId78"/>
    <p:sldLayoutId id="2147483678" r:id="rId79"/>
    <p:sldLayoutId id="2147483807" r:id="rId8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ain shape &quot;Combining the real and the digital&quot;">
            <a:extLst>
              <a:ext uri="{FF2B5EF4-FFF2-40B4-BE49-F238E27FC236}">
                <a16:creationId xmlns:a16="http://schemas.microsoft.com/office/drawing/2014/main" id="{14758C06-787C-4037-82E5-3980DDBBD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8" r="17036" b="-8"/>
          <a:stretch/>
        </p:blipFill>
        <p:spPr bwMode="ltGray">
          <a:xfrm>
            <a:off x="6095999" y="1559863"/>
            <a:ext cx="6096001" cy="3644469"/>
          </a:xfrm>
          <a:prstGeom prst="rect">
            <a:avLst/>
          </a:prstGeom>
        </p:spPr>
      </p:pic>
      <p:sp>
        <p:nvSpPr>
          <p:cNvPr id="6" name="Title" descr="Headline of the presentation">
            <a:extLst>
              <a:ext uri="{FF2B5EF4-FFF2-40B4-BE49-F238E27FC236}">
                <a16:creationId xmlns:a16="http://schemas.microsoft.com/office/drawing/2014/main" id="{DA865AB3-8AE0-4AB0-94C2-2E517EC1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5"/>
            <a:ext cx="11376788" cy="2462213"/>
          </a:xfrm>
        </p:spPr>
        <p:txBody>
          <a:bodyPr/>
          <a:lstStyle/>
          <a:p>
            <a:r>
              <a:rPr lang="en-US" dirty="0"/>
              <a:t>Documentation Agent Orchestrator</a:t>
            </a:r>
            <a:endParaRPr lang="en-US" noProof="0" dirty="0"/>
          </a:p>
        </p:txBody>
      </p:sp>
      <p:sp>
        <p:nvSpPr>
          <p:cNvPr id="17" name="Subtitle" descr="Subheadline of the presentation">
            <a:extLst>
              <a:ext uri="{FF2B5EF4-FFF2-40B4-BE49-F238E27FC236}">
                <a16:creationId xmlns:a16="http://schemas.microsoft.com/office/drawing/2014/main" id="{9F1C4C08-3D5C-4C0E-914A-F70CA07D0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162" y="3876677"/>
            <a:ext cx="9286875" cy="1930398"/>
          </a:xfrm>
        </p:spPr>
        <p:txBody>
          <a:bodyPr/>
          <a:lstStyle/>
          <a:p>
            <a:r>
              <a:rPr lang="en-US" dirty="0"/>
              <a:t>Stop AI from inventing documentation</a:t>
            </a:r>
            <a:endParaRPr lang="en-US" noProof="0" dirty="0"/>
          </a:p>
        </p:txBody>
      </p:sp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FDA17C2-CC0D-4A70-A1C4-4DAA44F647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</p:spTree>
    <p:extLst>
      <p:ext uri="{BB962C8B-B14F-4D97-AF65-F5344CB8AC3E}">
        <p14:creationId xmlns:p14="http://schemas.microsoft.com/office/powerpoint/2010/main" val="25559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27A9DAE0-B481-6A69-066D-6589C163B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94" y="3718863"/>
            <a:ext cx="5579854" cy="107298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2E5C1EB-B7AA-EFFE-21F5-074080114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81" y="3863142"/>
            <a:ext cx="5130213" cy="1072989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38CF0F5-6EB1-42E0-A9A9-A6170EF1473F}"/>
              </a:ext>
            </a:extLst>
          </p:cNvPr>
          <p:cNvSpPr/>
          <p:nvPr/>
        </p:nvSpPr>
        <p:spPr>
          <a:xfrm>
            <a:off x="6422945" y="2502644"/>
            <a:ext cx="5130213" cy="106810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94D5992-CC6B-934A-4688-A4584648F4F6}"/>
              </a:ext>
            </a:extLst>
          </p:cNvPr>
          <p:cNvSpPr/>
          <p:nvPr/>
        </p:nvSpPr>
        <p:spPr>
          <a:xfrm>
            <a:off x="349265" y="2515268"/>
            <a:ext cx="5609083" cy="1050488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B10F9-FFFD-A08D-CBE6-ED03D5BF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06" y="173795"/>
            <a:ext cx="11376788" cy="615553"/>
          </a:xfrm>
        </p:spPr>
        <p:txBody>
          <a:bodyPr/>
          <a:lstStyle/>
          <a:p>
            <a:r>
              <a:rPr lang="en-US" dirty="0"/>
              <a:t>The Real Problem with AI in 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90906-0697-11A4-2541-D5C5B1A1F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606" y="789348"/>
            <a:ext cx="9288000" cy="793708"/>
          </a:xfrm>
        </p:spPr>
        <p:txBody>
          <a:bodyPr/>
          <a:lstStyle/>
          <a:p>
            <a:r>
              <a:rPr lang="en-US" b="1" dirty="0"/>
              <a:t>AI is fluent. Documentation must be correct.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EFAAA-FB3E-5EF6-E0AF-4F97BE0525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6E98B-6DF2-05BC-5EC1-900C774EC1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B66B17EA-261B-CA72-7D3A-65C6B4124650}"/>
              </a:ext>
            </a:extLst>
          </p:cNvPr>
          <p:cNvSpPr/>
          <p:nvPr/>
        </p:nvSpPr>
        <p:spPr>
          <a:xfrm>
            <a:off x="378494" y="1687847"/>
            <a:ext cx="11245094" cy="80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When AI rewrites documentation, the biggest risk is </a:t>
            </a:r>
            <a:r>
              <a:rPr lang="en-US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grammar or tone.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real risk is </a:t>
            </a:r>
            <a:r>
              <a:rPr lang="en-US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silent meaning change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—alterations that look professional but fundamentally alter accuracy.</a:t>
            </a:r>
            <a:endParaRPr lang="en-US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2EA891C7-0276-A5D3-6B60-D43EA396D598}"/>
              </a:ext>
            </a:extLst>
          </p:cNvPr>
          <p:cNvSpPr/>
          <p:nvPr/>
        </p:nvSpPr>
        <p:spPr>
          <a:xfrm>
            <a:off x="362140" y="2552055"/>
            <a:ext cx="91440" cy="995243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B790F99A-B0D4-5710-4F40-B0B1E32E5259}"/>
              </a:ext>
            </a:extLst>
          </p:cNvPr>
          <p:cNvSpPr/>
          <p:nvPr/>
        </p:nvSpPr>
        <p:spPr>
          <a:xfrm>
            <a:off x="638841" y="2737316"/>
            <a:ext cx="3375898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Invented features or behaviors</a:t>
            </a:r>
            <a:endParaRPr lang="en-US" sz="16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DEF28B9D-B59D-35E6-CFF3-FF2A47E42697}"/>
              </a:ext>
            </a:extLst>
          </p:cNvPr>
          <p:cNvSpPr/>
          <p:nvPr/>
        </p:nvSpPr>
        <p:spPr>
          <a:xfrm>
            <a:off x="638841" y="3102004"/>
            <a:ext cx="6036588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describes functionality that doesn't exist, creating false expectations.</a:t>
            </a:r>
            <a:endParaRPr lang="en-US" sz="1250" dirty="0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5288E530-AE4D-70D9-5566-2DEB2A2E6243}"/>
              </a:ext>
            </a:extLst>
          </p:cNvPr>
          <p:cNvSpPr/>
          <p:nvPr/>
        </p:nvSpPr>
        <p:spPr>
          <a:xfrm>
            <a:off x="6422946" y="2520236"/>
            <a:ext cx="91440" cy="995243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F17A10C1-561E-CF94-E5DB-F3444A76E9D5}"/>
              </a:ext>
            </a:extLst>
          </p:cNvPr>
          <p:cNvSpPr/>
          <p:nvPr/>
        </p:nvSpPr>
        <p:spPr>
          <a:xfrm>
            <a:off x="6699647" y="2705497"/>
            <a:ext cx="4269938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Implied steps that were never written</a:t>
            </a:r>
            <a:endParaRPr lang="en-US" sz="165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59FB1BCE-907D-D9D6-4300-3D2466B5AEDB}"/>
              </a:ext>
            </a:extLst>
          </p:cNvPr>
          <p:cNvSpPr/>
          <p:nvPr/>
        </p:nvSpPr>
        <p:spPr>
          <a:xfrm>
            <a:off x="6677312" y="3036695"/>
            <a:ext cx="4813648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Missing procedures are fabricated to create narrative completeness.</a:t>
            </a:r>
            <a:endParaRPr lang="en-US" sz="12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8C4D8EBD-F570-B258-737C-343E2EA9FE22}"/>
              </a:ext>
            </a:extLst>
          </p:cNvPr>
          <p:cNvSpPr/>
          <p:nvPr/>
        </p:nvSpPr>
        <p:spPr>
          <a:xfrm>
            <a:off x="362140" y="3709699"/>
            <a:ext cx="91440" cy="1082153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D1ABB7B0-573B-A88A-B853-16EA8A47EC06}"/>
              </a:ext>
            </a:extLst>
          </p:cNvPr>
          <p:cNvSpPr/>
          <p:nvPr/>
        </p:nvSpPr>
        <p:spPr>
          <a:xfrm>
            <a:off x="638841" y="3894961"/>
            <a:ext cx="350270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Assumed workflows or defaults</a:t>
            </a:r>
            <a:endParaRPr lang="en-US" sz="165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931E8704-981D-D6BD-565D-AE5E790120E6}"/>
              </a:ext>
            </a:extLst>
          </p:cNvPr>
          <p:cNvSpPr/>
          <p:nvPr/>
        </p:nvSpPr>
        <p:spPr>
          <a:xfrm>
            <a:off x="638841" y="4259649"/>
            <a:ext cx="5047558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infers standard behavior patterns that may not match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actual implementation.</a:t>
            </a:r>
            <a:endParaRPr lang="en-US" sz="1250" dirty="0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A216CBE2-756A-88DD-7F62-E4704B52BD8F}"/>
              </a:ext>
            </a:extLst>
          </p:cNvPr>
          <p:cNvSpPr/>
          <p:nvPr/>
        </p:nvSpPr>
        <p:spPr>
          <a:xfrm>
            <a:off x="6422946" y="3848719"/>
            <a:ext cx="91440" cy="1101834"/>
          </a:xfrm>
          <a:prstGeom prst="roundRect">
            <a:avLst>
              <a:gd name="adj" fmla="val 45833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2BD5E478-F17F-71CE-77B8-175F620B18EB}"/>
              </a:ext>
            </a:extLst>
          </p:cNvPr>
          <p:cNvSpPr/>
          <p:nvPr/>
        </p:nvSpPr>
        <p:spPr>
          <a:xfrm>
            <a:off x="6699647" y="3863142"/>
            <a:ext cx="4054673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Changed or “upgraded" terminology</a:t>
            </a:r>
            <a:endParaRPr lang="en-US" sz="165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05869A94-B395-B309-F6B2-3DECD20D022C}"/>
              </a:ext>
            </a:extLst>
          </p:cNvPr>
          <p:cNvSpPr/>
          <p:nvPr/>
        </p:nvSpPr>
        <p:spPr>
          <a:xfrm>
            <a:off x="6745113" y="4355357"/>
            <a:ext cx="4907587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Technical terms are modernized or simplified, breaking consistency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with product interfaces.</a:t>
            </a:r>
            <a:endParaRPr lang="en-US" sz="125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CD9D83EB-AAB4-2D4C-F05D-196931A61358}"/>
              </a:ext>
            </a:extLst>
          </p:cNvPr>
          <p:cNvSpPr/>
          <p:nvPr/>
        </p:nvSpPr>
        <p:spPr>
          <a:xfrm>
            <a:off x="407606" y="5283794"/>
            <a:ext cx="13113782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These changes often look professional and reasonable, which makes them nearly impossible to detect during casual review.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3990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A25140-E301-7B35-5673-E7531D0681EC}"/>
              </a:ext>
            </a:extLst>
          </p:cNvPr>
          <p:cNvSpPr/>
          <p:nvPr/>
        </p:nvSpPr>
        <p:spPr>
          <a:xfrm>
            <a:off x="3703686" y="3676057"/>
            <a:ext cx="4084603" cy="1726653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B9E17-39EA-A03F-48F2-3B960D9D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06" y="173795"/>
            <a:ext cx="11376788" cy="615553"/>
          </a:xfrm>
        </p:spPr>
        <p:txBody>
          <a:bodyPr/>
          <a:lstStyle/>
          <a:p>
            <a:r>
              <a:rPr lang="en-US" dirty="0"/>
              <a:t>Why this hurts Technical Writers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8AE87-4DA1-E942-750E-C90125079A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EBFDF-F3EC-64AB-EC5D-C5C8EC0B16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E470FE-E20B-42E7-120F-0DCBBF312710}"/>
              </a:ext>
            </a:extLst>
          </p:cNvPr>
          <p:cNvSpPr txBox="1">
            <a:spLocks/>
          </p:cNvSpPr>
          <p:nvPr/>
        </p:nvSpPr>
        <p:spPr bwMode="black">
          <a:xfrm>
            <a:off x="533304" y="1455174"/>
            <a:ext cx="9288000" cy="1034845"/>
          </a:xfrm>
          <a:prstGeom prst="rect">
            <a:avLst/>
          </a:prstGeom>
        </p:spPr>
        <p:txBody>
          <a:bodyPr vert="horz" lIns="0" tIns="3708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61454-4F5F-B02F-D171-8A14DE2D9C1E}"/>
              </a:ext>
            </a:extLst>
          </p:cNvPr>
          <p:cNvSpPr txBox="1"/>
          <p:nvPr/>
        </p:nvSpPr>
        <p:spPr>
          <a:xfrm>
            <a:off x="342630" y="9950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When documentation is wrong, the AI is not blamed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1A57E9-A19D-A868-2A24-DE2488AD304E}"/>
              </a:ext>
            </a:extLst>
          </p:cNvPr>
          <p:cNvSpPr txBox="1"/>
          <p:nvPr/>
        </p:nvSpPr>
        <p:spPr>
          <a:xfrm>
            <a:off x="407606" y="5711969"/>
            <a:ext cx="8639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That’s what makes AI powerful — and risky — in documentation workflows.</a:t>
            </a:r>
            <a:endParaRPr lang="en-US" b="1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8B6D60E3-52FC-D7F7-AFD5-A4135662D7A3}"/>
              </a:ext>
            </a:extLst>
          </p:cNvPr>
          <p:cNvSpPr/>
          <p:nvPr/>
        </p:nvSpPr>
        <p:spPr>
          <a:xfrm>
            <a:off x="140318" y="1593918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What reviewers see</a:t>
            </a:r>
            <a:endParaRPr lang="en-US" sz="21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D1C6CBC-F152-C9F8-E26E-B14F745016B3}"/>
              </a:ext>
            </a:extLst>
          </p:cNvPr>
          <p:cNvSpPr/>
          <p:nvPr/>
        </p:nvSpPr>
        <p:spPr>
          <a:xfrm>
            <a:off x="140318" y="2138152"/>
            <a:ext cx="39909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documentation</a:t>
            </a:r>
            <a:endParaRPr lang="en-US" sz="1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A95A91DB-5295-33B9-09B2-F4CA042E12BC}"/>
              </a:ext>
            </a:extLst>
          </p:cNvPr>
          <p:cNvSpPr/>
          <p:nvPr/>
        </p:nvSpPr>
        <p:spPr>
          <a:xfrm>
            <a:off x="140318" y="2539512"/>
            <a:ext cx="39909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published content</a:t>
            </a:r>
            <a:endParaRPr lang="en-US" sz="16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9FC01451-EB81-0BB6-D0E6-1B1588225845}"/>
              </a:ext>
            </a:extLst>
          </p:cNvPr>
          <p:cNvSpPr/>
          <p:nvPr/>
        </p:nvSpPr>
        <p:spPr>
          <a:xfrm>
            <a:off x="140318" y="2940872"/>
            <a:ext cx="39909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final wording</a:t>
            </a:r>
            <a:endParaRPr lang="en-US" sz="16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92439F7E-85F4-1432-892A-699B66B33508}"/>
              </a:ext>
            </a:extLst>
          </p:cNvPr>
          <p:cNvSpPr/>
          <p:nvPr/>
        </p:nvSpPr>
        <p:spPr>
          <a:xfrm>
            <a:off x="3490745" y="1593918"/>
            <a:ext cx="3818692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What reviewers do NOT see</a:t>
            </a:r>
            <a:endParaRPr lang="en-US" sz="21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A785D33-924B-4489-C01F-E5DC576D5BFD}"/>
              </a:ext>
            </a:extLst>
          </p:cNvPr>
          <p:cNvSpPr/>
          <p:nvPr/>
        </p:nvSpPr>
        <p:spPr>
          <a:xfrm>
            <a:off x="3490745" y="2138152"/>
            <a:ext cx="39909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AI prompt</a:t>
            </a:r>
            <a:endParaRPr lang="en-US" sz="16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84800459-AA0F-319E-2115-44A1EA6C7552}"/>
              </a:ext>
            </a:extLst>
          </p:cNvPr>
          <p:cNvSpPr/>
          <p:nvPr/>
        </p:nvSpPr>
        <p:spPr>
          <a:xfrm>
            <a:off x="3490745" y="2539512"/>
            <a:ext cx="39909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AI's assumptions</a:t>
            </a:r>
            <a:endParaRPr lang="en-US" sz="16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73B7E1E-3AA1-A257-DAAD-E760F59D9BD4}"/>
              </a:ext>
            </a:extLst>
          </p:cNvPr>
          <p:cNvSpPr/>
          <p:nvPr/>
        </p:nvSpPr>
        <p:spPr>
          <a:xfrm>
            <a:off x="3490745" y="2940872"/>
            <a:ext cx="39909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Where gaps were filled by guessing</a:t>
            </a:r>
            <a:endParaRPr lang="en-US" sz="16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0A8B7799-B11C-2329-C2F2-B3E0F3F12528}"/>
              </a:ext>
            </a:extLst>
          </p:cNvPr>
          <p:cNvSpPr/>
          <p:nvPr/>
        </p:nvSpPr>
        <p:spPr>
          <a:xfrm>
            <a:off x="7788289" y="1593918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The result</a:t>
            </a:r>
            <a:endParaRPr lang="en-US" sz="21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EC177A7-B2AC-3886-0607-2458A213D76C}"/>
              </a:ext>
            </a:extLst>
          </p:cNvPr>
          <p:cNvSpPr/>
          <p:nvPr/>
        </p:nvSpPr>
        <p:spPr>
          <a:xfrm>
            <a:off x="7788289" y="2138152"/>
            <a:ext cx="4127183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Documentation is treated as authoritative. Responsibility falls on the writer.</a:t>
            </a:r>
            <a:endParaRPr lang="en-US" sz="160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900503B4-8EB8-70E4-3525-2BF2D15E559E}"/>
              </a:ext>
            </a:extLst>
          </p:cNvPr>
          <p:cNvSpPr/>
          <p:nvPr/>
        </p:nvSpPr>
        <p:spPr>
          <a:xfrm flipV="1">
            <a:off x="140318" y="3396503"/>
            <a:ext cx="11775154" cy="45719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F45098C9-36F6-C9F2-44BD-A46E1C542C91}"/>
              </a:ext>
            </a:extLst>
          </p:cNvPr>
          <p:cNvSpPr/>
          <p:nvPr/>
        </p:nvSpPr>
        <p:spPr>
          <a:xfrm>
            <a:off x="3703686" y="3701542"/>
            <a:ext cx="91440" cy="1701284"/>
          </a:xfrm>
          <a:prstGeom prst="roundRect">
            <a:avLst>
              <a:gd name="adj" fmla="val 94541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BEE01EED-6B11-7731-B40D-7AB54488B51B}"/>
              </a:ext>
            </a:extLst>
          </p:cNvPr>
          <p:cNvSpPr/>
          <p:nvPr/>
        </p:nvSpPr>
        <p:spPr>
          <a:xfrm>
            <a:off x="4023726" y="3930142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The imbalance</a:t>
            </a:r>
            <a:endParaRPr lang="en-US" sz="21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5E684918-2BE5-21C6-B03F-E4F1CC1D3C33}"/>
              </a:ext>
            </a:extLst>
          </p:cNvPr>
          <p:cNvSpPr/>
          <p:nvPr/>
        </p:nvSpPr>
        <p:spPr>
          <a:xfrm>
            <a:off x="4023726" y="4392104"/>
            <a:ext cx="305664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increases speed</a:t>
            </a:r>
            <a:endParaRPr lang="en-US" sz="16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F4603627-2E7F-FAC6-7C23-290585B5F3CA}"/>
              </a:ext>
            </a:extLst>
          </p:cNvPr>
          <p:cNvSpPr/>
          <p:nvPr/>
        </p:nvSpPr>
        <p:spPr>
          <a:xfrm>
            <a:off x="3970974" y="4803226"/>
            <a:ext cx="3463354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Accountability remains human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10778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9F4F-CE6F-5CE8-2C9F-4FDD857A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144298"/>
            <a:ext cx="11376788" cy="615553"/>
          </a:xfrm>
        </p:spPr>
        <p:txBody>
          <a:bodyPr/>
          <a:lstStyle/>
          <a:p>
            <a:r>
              <a:rPr lang="en-US" dirty="0"/>
              <a:t>Why existing AI tools don’t solve this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2CC07-39B4-7284-137F-1048BB35C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162" y="3295474"/>
            <a:ext cx="4802649" cy="1108206"/>
          </a:xfrm>
        </p:spPr>
        <p:txBody>
          <a:bodyPr/>
          <a:lstStyle/>
          <a:p>
            <a:r>
              <a:rPr lang="en-US" sz="1800" dirty="0"/>
              <a:t>Helpful AI treats ambiguity as a problem.</a:t>
            </a:r>
            <a:br>
              <a:rPr lang="en-US" sz="1800" dirty="0"/>
            </a:br>
            <a:r>
              <a:rPr lang="en-US" sz="1800" dirty="0"/>
              <a:t>Documentation </a:t>
            </a:r>
            <a:r>
              <a:rPr lang="en-US" sz="2000" dirty="0"/>
              <a:t>treats</a:t>
            </a:r>
            <a:r>
              <a:rPr lang="en-US" sz="1800" dirty="0"/>
              <a:t> ambiguity as a signal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B43DA-9F10-1BE5-BA57-D97470B376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3755A-452C-7276-180B-14C9D9A143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4C75F-37AF-0B31-8D11-74C02331FEC5}"/>
              </a:ext>
            </a:extLst>
          </p:cNvPr>
          <p:cNvSpPr txBox="1"/>
          <p:nvPr/>
        </p:nvSpPr>
        <p:spPr>
          <a:xfrm>
            <a:off x="276146" y="1104208"/>
            <a:ext cx="26224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AI today</a:t>
            </a:r>
            <a:br>
              <a:rPr lang="en-US" sz="2000" dirty="0"/>
            </a:br>
            <a:r>
              <a:rPr lang="en-US" sz="2000" dirty="0"/>
              <a:t>🟢 Always proceeds</a:t>
            </a:r>
            <a:br>
              <a:rPr lang="en-US" sz="2000" dirty="0"/>
            </a:br>
            <a:r>
              <a:rPr lang="en-US" sz="2000" dirty="0"/>
              <a:t>🟢 Always fills gaps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FAF5FB-D677-B6EC-C4B0-86FCDE740E3B}"/>
              </a:ext>
            </a:extLst>
          </p:cNvPr>
          <p:cNvSpPr txBox="1"/>
          <p:nvPr/>
        </p:nvSpPr>
        <p:spPr>
          <a:xfrm>
            <a:off x="3677099" y="1104208"/>
            <a:ext cx="52654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Documentation needs</a:t>
            </a:r>
            <a:br>
              <a:rPr lang="en-US" sz="2000" dirty="0"/>
            </a:br>
            <a:r>
              <a:rPr lang="en-US" sz="2000" dirty="0"/>
              <a:t>🟢 Proceed only when safe</a:t>
            </a:r>
            <a:br>
              <a:rPr lang="en-US" sz="2000" dirty="0"/>
            </a:br>
            <a:r>
              <a:rPr lang="en-US" sz="2000" dirty="0"/>
              <a:t>🔴 Stop when guessing is required</a:t>
            </a:r>
          </a:p>
        </p:txBody>
      </p:sp>
      <p:pic>
        <p:nvPicPr>
          <p:cNvPr id="11" name="Picture 10" descr="A person and robot with paper and papers&#10;&#10;AI-generated content may be incorrect.">
            <a:extLst>
              <a:ext uri="{FF2B5EF4-FFF2-40B4-BE49-F238E27FC236}">
                <a16:creationId xmlns:a16="http://schemas.microsoft.com/office/drawing/2014/main" id="{691A6525-0441-0913-5F52-FF1FBD003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748" y="2271851"/>
            <a:ext cx="5265420" cy="35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16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80C921D-566F-2680-86D8-6B65AD10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438" y="3489079"/>
            <a:ext cx="5456393" cy="85978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AACC6B0-CF01-AE3E-6E87-774351A6E6D5}"/>
              </a:ext>
            </a:extLst>
          </p:cNvPr>
          <p:cNvSpPr/>
          <p:nvPr/>
        </p:nvSpPr>
        <p:spPr>
          <a:xfrm>
            <a:off x="259792" y="2294377"/>
            <a:ext cx="4624180" cy="664898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dirty="0"/>
              <a:t>Creative AI that fills gaps to sound helpful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6C287-1777-D41D-E8FC-4CDD53BA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58" y="451678"/>
            <a:ext cx="11376788" cy="1404012"/>
          </a:xfrm>
        </p:spPr>
        <p:txBody>
          <a:bodyPr/>
          <a:lstStyle/>
          <a:p>
            <a:r>
              <a:rPr lang="en-US" b="1" dirty="0"/>
              <a:t>Documentation Agent Orchestrator</a:t>
            </a:r>
            <a:r>
              <a:rPr lang="en-US" dirty="0"/>
              <a:t> introduces governance into AI-assisted documentation.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CF11F-612A-859A-EA5E-D9F1BBBB5B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CF3C1-6EA3-AFDE-8F34-B3F947DB5B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F677450C-0645-D8B1-D230-158B0CD3F2AF}"/>
              </a:ext>
            </a:extLst>
          </p:cNvPr>
          <p:cNvSpPr/>
          <p:nvPr/>
        </p:nvSpPr>
        <p:spPr>
          <a:xfrm>
            <a:off x="141458" y="4882323"/>
            <a:ext cx="11939380" cy="763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/>
              <a:t>This approach shifts AI away from creative interpretation and toward professional accountability, ensuring documentation remains correct, traceable, and defensible.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F9A45A-7498-9AE6-AF95-EB488460FF5D}"/>
              </a:ext>
            </a:extLst>
          </p:cNvPr>
          <p:cNvSpPr txBox="1"/>
          <p:nvPr/>
        </p:nvSpPr>
        <p:spPr>
          <a:xfrm>
            <a:off x="6348438" y="3734305"/>
            <a:ext cx="5456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Controlled documentation agent that enforces rules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E0C1C2AB-2A57-2BB5-8089-97A773B8D790}"/>
              </a:ext>
            </a:extLst>
          </p:cNvPr>
          <p:cNvCxnSpPr>
            <a:cxnSpLocks/>
          </p:cNvCxnSpPr>
          <p:nvPr/>
        </p:nvCxnSpPr>
        <p:spPr>
          <a:xfrm>
            <a:off x="5028832" y="2740264"/>
            <a:ext cx="1210603" cy="1178707"/>
          </a:xfrm>
          <a:prstGeom prst="curvedConnector3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06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8E7174-498D-EF33-327A-0F5527293452}"/>
              </a:ext>
            </a:extLst>
          </p:cNvPr>
          <p:cNvSpPr/>
          <p:nvPr/>
        </p:nvSpPr>
        <p:spPr>
          <a:xfrm>
            <a:off x="322770" y="3689213"/>
            <a:ext cx="7083870" cy="106854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002904A-8E31-FBF6-0A32-CBF678333569}"/>
              </a:ext>
            </a:extLst>
          </p:cNvPr>
          <p:cNvSpPr/>
          <p:nvPr/>
        </p:nvSpPr>
        <p:spPr>
          <a:xfrm>
            <a:off x="322770" y="2438400"/>
            <a:ext cx="7083870" cy="106854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011B2-B087-A169-50B7-E6EC5924F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50" y="52359"/>
            <a:ext cx="11376788" cy="615553"/>
          </a:xfrm>
        </p:spPr>
        <p:txBody>
          <a:bodyPr/>
          <a:lstStyle/>
          <a:p>
            <a:r>
              <a:rPr lang="en-US" dirty="0"/>
              <a:t>The core idea: Governance instead of guessing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8B7D3-7950-E4A6-7641-9DD2A73004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6ED66-8E49-4912-0D51-97024FB11D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2863960E-7999-4454-CD95-CC1CF31B6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025" y="667912"/>
            <a:ext cx="3656975" cy="5485462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06000812-EA4E-EAEA-46AC-2EC525D976A3}"/>
              </a:ext>
            </a:extLst>
          </p:cNvPr>
          <p:cNvSpPr/>
          <p:nvPr/>
        </p:nvSpPr>
        <p:spPr>
          <a:xfrm>
            <a:off x="404050" y="651377"/>
            <a:ext cx="7638574" cy="99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AI is allowed only two behaviors</a:t>
            </a:r>
            <a:endParaRPr lang="en-US" sz="32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DBD88F65-4C08-77BC-3614-0DB74AA8F9AA}"/>
              </a:ext>
            </a:extLst>
          </p:cNvPr>
          <p:cNvSpPr/>
          <p:nvPr/>
        </p:nvSpPr>
        <p:spPr>
          <a:xfrm>
            <a:off x="322770" y="1804959"/>
            <a:ext cx="7638574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Documentation Agent Orchestrator enforces a strict operational rule that eliminates the middle ground where AI "helps" by making assumptions:</a:t>
            </a:r>
            <a:endParaRPr lang="en-US" sz="1600" dirty="0">
              <a:latin typeface="+mn-lt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3963E491-411B-4097-F8C8-FFBC14D35EA0}"/>
              </a:ext>
            </a:extLst>
          </p:cNvPr>
          <p:cNvSpPr/>
          <p:nvPr/>
        </p:nvSpPr>
        <p:spPr>
          <a:xfrm>
            <a:off x="470170" y="2556719"/>
            <a:ext cx="4215289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1. Document exactly what is provided</a:t>
            </a:r>
            <a:endParaRPr lang="en-US" sz="20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421138C-F10C-0CE7-0105-07FC788727E2}"/>
              </a:ext>
            </a:extLst>
          </p:cNvPr>
          <p:cNvSpPr/>
          <p:nvPr/>
        </p:nvSpPr>
        <p:spPr>
          <a:xfrm>
            <a:off x="470170" y="2916407"/>
            <a:ext cx="7343775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Reproduce source content with precision, preserving ambiguity, gaps, and incomplete information exactly as written.</a:t>
            </a:r>
            <a:endParaRPr lang="en-US" sz="1600" dirty="0">
              <a:latin typeface="+mn-lt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39579099-3D3F-E4BF-2812-5671CF9DD30A}"/>
              </a:ext>
            </a:extLst>
          </p:cNvPr>
          <p:cNvSpPr/>
          <p:nvPr/>
        </p:nvSpPr>
        <p:spPr>
          <a:xfrm>
            <a:off x="470170" y="3798184"/>
            <a:ext cx="4121944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2. Stop and ask clarifying questions</a:t>
            </a:r>
            <a:endParaRPr lang="en-US" sz="20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51FA1B4A-032C-9173-B152-B12ECF568C2D}"/>
              </a:ext>
            </a:extLst>
          </p:cNvPr>
          <p:cNvSpPr/>
          <p:nvPr/>
        </p:nvSpPr>
        <p:spPr>
          <a:xfrm>
            <a:off x="470170" y="4157872"/>
            <a:ext cx="7343775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When documentation would require invention, inference, or assumption, halt processing and explicitly request the missing information.</a:t>
            </a:r>
            <a:endParaRPr lang="en-US" sz="1600" dirty="0">
              <a:latin typeface="+mn-lt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39D22371-E7F2-7CC0-1CD3-2E391A72D404}"/>
              </a:ext>
            </a:extLst>
          </p:cNvPr>
          <p:cNvSpPr/>
          <p:nvPr/>
        </p:nvSpPr>
        <p:spPr>
          <a:xfrm>
            <a:off x="532439" y="5066795"/>
            <a:ext cx="7428905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There is no middle ground. There is no "helpful guessing." This replaces AI creativity with AI restraint—the foundation of trustworthy automated documentation.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644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68E3EEA-45E7-F90C-037A-4A250E6660AF}"/>
              </a:ext>
            </a:extLst>
          </p:cNvPr>
          <p:cNvSpPr/>
          <p:nvPr/>
        </p:nvSpPr>
        <p:spPr>
          <a:xfrm>
            <a:off x="129092" y="4765638"/>
            <a:ext cx="11736594" cy="11437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DE3203-60A7-53AE-4AB8-90CE45719190}"/>
              </a:ext>
            </a:extLst>
          </p:cNvPr>
          <p:cNvSpPr/>
          <p:nvPr/>
        </p:nvSpPr>
        <p:spPr>
          <a:xfrm>
            <a:off x="129092" y="1174209"/>
            <a:ext cx="3644154" cy="2834997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642003-F19A-3F64-0F27-FFBAE8694417}"/>
              </a:ext>
            </a:extLst>
          </p:cNvPr>
          <p:cNvSpPr/>
          <p:nvPr/>
        </p:nvSpPr>
        <p:spPr>
          <a:xfrm>
            <a:off x="3972521" y="1197602"/>
            <a:ext cx="4129419" cy="2834997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3162E9-4E19-1E6E-713A-41B3C4B88B99}"/>
              </a:ext>
            </a:extLst>
          </p:cNvPr>
          <p:cNvSpPr/>
          <p:nvPr/>
        </p:nvSpPr>
        <p:spPr>
          <a:xfrm>
            <a:off x="8292596" y="1147985"/>
            <a:ext cx="3807963" cy="2834997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37453-DB0C-C725-E2D0-33EAA330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50" y="157282"/>
            <a:ext cx="11376788" cy="615553"/>
          </a:xfrm>
        </p:spPr>
        <p:txBody>
          <a:bodyPr/>
          <a:lstStyle/>
          <a:p>
            <a:r>
              <a:rPr lang="en-US" dirty="0"/>
              <a:t>Concrete Example: Without vs With Governance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29842-E436-9F0E-E146-B074D6C9BB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B7F89-0B12-DBEE-03D8-5A025C5AC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35BBE05-3D41-7544-AF54-4BACC0BA90B3}"/>
              </a:ext>
            </a:extLst>
          </p:cNvPr>
          <p:cNvSpPr/>
          <p:nvPr/>
        </p:nvSpPr>
        <p:spPr>
          <a:xfrm>
            <a:off x="213360" y="1355184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Original Input</a:t>
            </a:r>
            <a:endParaRPr lang="en-US" sz="21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480700A-6ED6-A1D3-4BA3-5C47C3B8AB97}"/>
              </a:ext>
            </a:extLst>
          </p:cNvPr>
          <p:cNvSpPr/>
          <p:nvPr/>
        </p:nvSpPr>
        <p:spPr>
          <a:xfrm>
            <a:off x="408861" y="2079441"/>
            <a:ext cx="3563660" cy="1646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User clicks login.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Credentials checked.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Valid → dashboard.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Invalid → error.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Admins get extra options.</a:t>
            </a:r>
            <a:endParaRPr lang="en-US" sz="16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576A11D-3969-698B-D02D-2521F417732D}"/>
              </a:ext>
            </a:extLst>
          </p:cNvPr>
          <p:cNvSpPr/>
          <p:nvPr/>
        </p:nvSpPr>
        <p:spPr>
          <a:xfrm>
            <a:off x="3857514" y="1095352"/>
            <a:ext cx="45719" cy="3065502"/>
          </a:xfrm>
          <a:prstGeom prst="roundRect">
            <a:avLst>
              <a:gd name="adj" fmla="val 378164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E1E43E89-3550-4630-FE61-F0F1992969C4}"/>
              </a:ext>
            </a:extLst>
          </p:cNvPr>
          <p:cNvSpPr/>
          <p:nvPr/>
        </p:nvSpPr>
        <p:spPr>
          <a:xfrm>
            <a:off x="4195947" y="1351907"/>
            <a:ext cx="288107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Without Governance</a:t>
            </a:r>
            <a:endParaRPr lang="en-US" sz="21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0CA5E53-04B6-D33C-1ED9-17149151AD49}"/>
              </a:ext>
            </a:extLst>
          </p:cNvPr>
          <p:cNvSpPr/>
          <p:nvPr/>
        </p:nvSpPr>
        <p:spPr>
          <a:xfrm>
            <a:off x="4195947" y="1813869"/>
            <a:ext cx="4042484" cy="46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Credential validation method i</a:t>
            </a: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nvented</a:t>
            </a:r>
            <a:endParaRPr lang="en-US" sz="16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D1D5F65-5617-B748-FCDC-2A78F248D38E}"/>
              </a:ext>
            </a:extLst>
          </p:cNvPr>
          <p:cNvSpPr/>
          <p:nvPr/>
        </p:nvSpPr>
        <p:spPr>
          <a:xfrm>
            <a:off x="4195947" y="2256137"/>
            <a:ext cx="395466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Dashboard behavior </a:t>
            </a: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assumed</a:t>
            </a:r>
            <a:endParaRPr lang="en-US" sz="16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872868A0-C94E-7386-BD2D-E97507248F4B}"/>
              </a:ext>
            </a:extLst>
          </p:cNvPr>
          <p:cNvSpPr/>
          <p:nvPr/>
        </p:nvSpPr>
        <p:spPr>
          <a:xfrm>
            <a:off x="4195947" y="2657496"/>
            <a:ext cx="395466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Error handling </a:t>
            </a: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expanded</a:t>
            </a:r>
            <a:endParaRPr lang="en-US" sz="16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26AB127A-542F-4B4E-FD48-6555986FD154}"/>
              </a:ext>
            </a:extLst>
          </p:cNvPr>
          <p:cNvSpPr/>
          <p:nvPr/>
        </p:nvSpPr>
        <p:spPr>
          <a:xfrm>
            <a:off x="4195947" y="3058856"/>
            <a:ext cx="3954661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"Extra options" turned into </a:t>
            </a: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specific features</a:t>
            </a:r>
            <a:endParaRPr lang="en-US" sz="16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9D151A86-C9FC-EC1C-545E-233FD61B62F3}"/>
              </a:ext>
            </a:extLst>
          </p:cNvPr>
          <p:cNvSpPr/>
          <p:nvPr/>
        </p:nvSpPr>
        <p:spPr>
          <a:xfrm>
            <a:off x="8174409" y="1138851"/>
            <a:ext cx="45719" cy="3065502"/>
          </a:xfrm>
          <a:prstGeom prst="roundRect">
            <a:avLst>
              <a:gd name="adj" fmla="val 378164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B3E07696-3F01-F0BA-B7A7-D326F417CF74}"/>
              </a:ext>
            </a:extLst>
          </p:cNvPr>
          <p:cNvSpPr/>
          <p:nvPr/>
        </p:nvSpPr>
        <p:spPr>
          <a:xfrm>
            <a:off x="8429087" y="1360259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With Governance</a:t>
            </a:r>
            <a:endParaRPr lang="en-US" sz="21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E2B64F4C-3802-3BDD-A97F-D88F7852BB4A}"/>
              </a:ext>
            </a:extLst>
          </p:cNvPr>
          <p:cNvSpPr/>
          <p:nvPr/>
        </p:nvSpPr>
        <p:spPr>
          <a:xfrm>
            <a:off x="8429087" y="1651352"/>
            <a:ext cx="395466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Output mirrors the source exactly</a:t>
            </a:r>
            <a:endParaRPr lang="en-US" sz="16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9D388AA9-3E44-DA41-F8E5-A978E080C773}"/>
              </a:ext>
            </a:extLst>
          </p:cNvPr>
          <p:cNvSpPr/>
          <p:nvPr/>
        </p:nvSpPr>
        <p:spPr>
          <a:xfrm>
            <a:off x="8429087" y="2052712"/>
            <a:ext cx="395466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Ambiguity is explicitly listed</a:t>
            </a:r>
            <a:endParaRPr lang="en-US" sz="16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FECA0DAD-94E1-27AE-3069-A138CFC60EAF}"/>
              </a:ext>
            </a:extLst>
          </p:cNvPr>
          <p:cNvSpPr/>
          <p:nvPr/>
        </p:nvSpPr>
        <p:spPr>
          <a:xfrm>
            <a:off x="8429087" y="2454072"/>
            <a:ext cx="395466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behavior is invented or inferred</a:t>
            </a:r>
            <a:endParaRPr lang="en-US" sz="16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6C524D88-0F54-4ECA-3767-A92CC8EC2DB0}"/>
              </a:ext>
            </a:extLst>
          </p:cNvPr>
          <p:cNvSpPr/>
          <p:nvPr/>
        </p:nvSpPr>
        <p:spPr>
          <a:xfrm>
            <a:off x="8429087" y="2855431"/>
            <a:ext cx="3954661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Unknowns remain documented as unknowns</a:t>
            </a:r>
            <a:endParaRPr lang="en-US" sz="1600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AF8F38B6-6A93-3492-EBA2-435FF0AF198B}"/>
              </a:ext>
            </a:extLst>
          </p:cNvPr>
          <p:cNvSpPr/>
          <p:nvPr/>
        </p:nvSpPr>
        <p:spPr>
          <a:xfrm>
            <a:off x="0" y="4386047"/>
            <a:ext cx="12027049" cy="51412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ACF5CEE3-1858-DB99-F6DE-5C48B3AC0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" y="4956572"/>
            <a:ext cx="257175" cy="205740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D08B13DE-7AB1-4227-E4AF-4CE78FC59256}"/>
              </a:ext>
            </a:extLst>
          </p:cNvPr>
          <p:cNvSpPr/>
          <p:nvPr/>
        </p:nvSpPr>
        <p:spPr>
          <a:xfrm>
            <a:off x="668656" y="4907994"/>
            <a:ext cx="11197030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difference is not style, tone, or formatting. The difference is </a:t>
            </a:r>
            <a:r>
              <a:rPr lang="en-US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correctness</a:t>
            </a:r>
            <a:r>
              <a:rPr lang="en-US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—the fundamental requirement for technical documentation in regulated industries.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651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E5CC4-277D-2BDA-C1DE-975185F377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0F401-BACE-CB82-12D6-FCB70217F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 descr="A diagram of a process">
            <a:extLst>
              <a:ext uri="{FF2B5EF4-FFF2-40B4-BE49-F238E27FC236}">
                <a16:creationId xmlns:a16="http://schemas.microsoft.com/office/drawing/2014/main" id="{E651AA95-69FE-B92F-F88C-71801E671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60" y="147320"/>
            <a:ext cx="8831580" cy="588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6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18E6412-E477-6436-DA64-4EAF847A45FF}"/>
              </a:ext>
            </a:extLst>
          </p:cNvPr>
          <p:cNvSpPr/>
          <p:nvPr/>
        </p:nvSpPr>
        <p:spPr>
          <a:xfrm>
            <a:off x="2959509" y="4686290"/>
            <a:ext cx="5260258" cy="93406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sz="20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3C9B3DD-E641-D967-DA85-4764DC2638B8}"/>
              </a:ext>
            </a:extLst>
          </p:cNvPr>
          <p:cNvSpPr/>
          <p:nvPr/>
        </p:nvSpPr>
        <p:spPr>
          <a:xfrm>
            <a:off x="5358581" y="1925525"/>
            <a:ext cx="5495005" cy="2177255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E486EF2-7DDE-CF49-5707-943268981D62}"/>
              </a:ext>
            </a:extLst>
          </p:cNvPr>
          <p:cNvSpPr/>
          <p:nvPr/>
        </p:nvSpPr>
        <p:spPr>
          <a:xfrm>
            <a:off x="540774" y="2025445"/>
            <a:ext cx="4257368" cy="21772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1BEB9B9-3D1C-65F4-E687-C3D181E8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93" y="442345"/>
            <a:ext cx="11376788" cy="615553"/>
          </a:xfrm>
        </p:spPr>
        <p:txBody>
          <a:bodyPr/>
          <a:lstStyle/>
          <a:p>
            <a:r>
              <a:rPr lang="en-US" dirty="0"/>
              <a:t>Why this is a real step forward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2B17987-C20F-1C6B-25CE-30A6CDE21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597" y="2276038"/>
            <a:ext cx="5042964" cy="1531730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✖ Not a writing assistant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✖ Not a polishing tool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✖ Not a creativity booster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2A6AD-DA61-FECD-963B-91A1EC8B16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54B28-759D-53DA-4E11-6C34F28C00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Subtitle 10">
            <a:extLst>
              <a:ext uri="{FF2B5EF4-FFF2-40B4-BE49-F238E27FC236}">
                <a16:creationId xmlns:a16="http://schemas.microsoft.com/office/drawing/2014/main" id="{A800584A-DC22-6EAD-F517-CA360DE2D048}"/>
              </a:ext>
            </a:extLst>
          </p:cNvPr>
          <p:cNvSpPr txBox="1">
            <a:spLocks/>
          </p:cNvSpPr>
          <p:nvPr/>
        </p:nvSpPr>
        <p:spPr bwMode="black">
          <a:xfrm>
            <a:off x="5810622" y="2332439"/>
            <a:ext cx="5042964" cy="1706542"/>
          </a:xfrm>
          <a:prstGeom prst="rect">
            <a:avLst/>
          </a:prstGeom>
        </p:spPr>
        <p:txBody>
          <a:bodyPr vert="horz" lIns="0" tIns="3708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✔ A governance layer for AI-assisted documentation</a:t>
            </a:r>
          </a:p>
          <a:p>
            <a:r>
              <a:rPr lang="en-US" dirty="0"/>
              <a:t>✔ Predictable behavior</a:t>
            </a:r>
          </a:p>
          <a:p>
            <a:r>
              <a:rPr lang="en-US" dirty="0"/>
              <a:t>✔ Reviewable output</a:t>
            </a:r>
          </a:p>
          <a:p>
            <a:r>
              <a:rPr lang="en-US" dirty="0"/>
              <a:t>✔ Accountable changes</a:t>
            </a:r>
          </a:p>
          <a:p>
            <a:pPr>
              <a:buClrTx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1ADD42-B657-CA8A-38C2-8F994A351EC8}"/>
              </a:ext>
            </a:extLst>
          </p:cNvPr>
          <p:cNvSpPr txBox="1"/>
          <p:nvPr/>
        </p:nvSpPr>
        <p:spPr>
          <a:xfrm>
            <a:off x="3323302" y="4846076"/>
            <a:ext cx="47692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It doesn’t make AI smarter.</a:t>
            </a:r>
            <a:br>
              <a:rPr lang="en-US" sz="2000" b="1" dirty="0"/>
            </a:br>
            <a:r>
              <a:rPr lang="en-US" sz="2000" b="1" dirty="0"/>
              <a:t>It makes AI stop lying.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4DAA0F-AB98-C603-6F65-B8B09A4DD140}"/>
              </a:ext>
            </a:extLst>
          </p:cNvPr>
          <p:cNvSpPr txBox="1"/>
          <p:nvPr/>
        </p:nvSpPr>
        <p:spPr>
          <a:xfrm>
            <a:off x="259793" y="1196244"/>
            <a:ext cx="612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governance layer, not a writing tool</a:t>
            </a:r>
          </a:p>
        </p:txBody>
      </p:sp>
      <p:sp>
        <p:nvSpPr>
          <p:cNvPr id="22" name="Subtitle 10">
            <a:extLst>
              <a:ext uri="{FF2B5EF4-FFF2-40B4-BE49-F238E27FC236}">
                <a16:creationId xmlns:a16="http://schemas.microsoft.com/office/drawing/2014/main" id="{72B17987-C20F-1C6B-25CE-30A6CDE2109D}"/>
              </a:ext>
            </a:extLst>
          </p:cNvPr>
          <p:cNvSpPr txBox="1">
            <a:spLocks/>
          </p:cNvSpPr>
          <p:nvPr/>
        </p:nvSpPr>
        <p:spPr bwMode="black">
          <a:xfrm>
            <a:off x="954597" y="1925525"/>
            <a:ext cx="5042964" cy="701026"/>
          </a:xfrm>
          <a:prstGeom prst="rect">
            <a:avLst/>
          </a:prstGeom>
        </p:spPr>
        <p:txBody>
          <a:bodyPr vert="horz" lIns="0" tIns="3708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b="1" dirty="0"/>
              <a:t>What this is NOT</a:t>
            </a:r>
          </a:p>
        </p:txBody>
      </p:sp>
      <p:sp>
        <p:nvSpPr>
          <p:cNvPr id="23" name="Subtitle 10">
            <a:extLst>
              <a:ext uri="{FF2B5EF4-FFF2-40B4-BE49-F238E27FC236}">
                <a16:creationId xmlns:a16="http://schemas.microsoft.com/office/drawing/2014/main" id="{B7901F13-D4D6-1A31-D420-2DE1302FFD54}"/>
              </a:ext>
            </a:extLst>
          </p:cNvPr>
          <p:cNvSpPr txBox="1">
            <a:spLocks/>
          </p:cNvSpPr>
          <p:nvPr/>
        </p:nvSpPr>
        <p:spPr bwMode="black">
          <a:xfrm>
            <a:off x="5810622" y="1867311"/>
            <a:ext cx="5042964" cy="701026"/>
          </a:xfrm>
          <a:prstGeom prst="rect">
            <a:avLst/>
          </a:prstGeom>
        </p:spPr>
        <p:txBody>
          <a:bodyPr vert="horz" lIns="0" tIns="3708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b="1" dirty="0"/>
              <a:t>What this is</a:t>
            </a:r>
          </a:p>
        </p:txBody>
      </p:sp>
    </p:spTree>
    <p:extLst>
      <p:ext uri="{BB962C8B-B14F-4D97-AF65-F5344CB8AC3E}">
        <p14:creationId xmlns:p14="http://schemas.microsoft.com/office/powerpoint/2010/main" val="3831688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71B8A-DF9D-C500-9289-F1F1D46A8F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Tharun | TECOM | 2026-01-16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45DAC-500D-9931-3113-BC34B82744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ED739D8E-1EB2-69CA-2397-9106AE744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853" y="0"/>
            <a:ext cx="9225151" cy="615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65834"/>
      </p:ext>
    </p:extLst>
  </p:cSld>
  <p:clrMapOvr>
    <a:masterClrMapping/>
  </p:clrMapOvr>
</p:sld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 Light</vt:lpstr>
      <vt:lpstr>Sora Light</vt:lpstr>
      <vt:lpstr>Sora Semi Bold</vt:lpstr>
      <vt:lpstr>Siemens 2022</vt:lpstr>
      <vt:lpstr>Documentation Agent Orchestrator</vt:lpstr>
      <vt:lpstr>The Real Problem with AI in Documentation</vt:lpstr>
      <vt:lpstr>Why this hurts Technical Writers</vt:lpstr>
      <vt:lpstr>Why existing AI tools don’t solve this</vt:lpstr>
      <vt:lpstr>Documentation Agent Orchestrator introduces governance into AI-assisted documentation. </vt:lpstr>
      <vt:lpstr>The core idea: Governance instead of guessing</vt:lpstr>
      <vt:lpstr>Concrete Example: Without vs With Governance</vt:lpstr>
      <vt:lpstr>PowerPoint Presentation</vt:lpstr>
      <vt:lpstr>Why this is a real step forward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Siemens AG PowerPoint Presentation</dc:title>
  <dc:creator>Sebastian, Tharun (FT D AA IN DTS DIGI TECOM HES)</dc:creator>
  <cp:keywords>Template</cp:keywords>
  <dc:description>Version 3.4.5
July 2025</dc:description>
  <cp:lastModifiedBy>Sebastian, Tharun (FT D AA IN DTS DIGI TECOM HES)</cp:lastModifiedBy>
  <cp:revision>41</cp:revision>
  <dcterms:created xsi:type="dcterms:W3CDTF">2020-07-27T12:43:17Z</dcterms:created>
  <dcterms:modified xsi:type="dcterms:W3CDTF">2026-02-12T12:39:58Z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number">
    <vt:lpwstr>4.0.0</vt:lpwstr>
  </property>
  <property fmtid="{D5CDD505-2E9C-101B-9397-08002B2CF9AE}" pid="3" name="Language">
    <vt:lpwstr>English</vt:lpwstr>
  </property>
</Properties>
</file>